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B2B2B"/>
                </a:solidFill>
                <a:latin typeface="Calibri"/>
              </a:rPr>
              <a:t>Delivery Time Gap by Factor (minutes)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time gap (minutes)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Order Type</c:v>
                </c:pt>
                <c:pt idx="1">
                  <c:v>Vehicle Type</c:v>
                </c:pt>
                <c:pt idx="2">
                  <c:v>Weather</c:v>
                </c:pt>
                <c:pt idx="3">
                  <c:v>Traffic</c:v>
                </c:pt>
                <c:pt idx="4">
                  <c:v>Festival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0.22</c:v>
                </c:pt>
                <c:pt idx="1">
                  <c:v>3.12</c:v>
                </c:pt>
                <c:pt idx="2">
                  <c:v>6.99</c:v>
                </c:pt>
                <c:pt idx="3">
                  <c:v>9.8800000000000008</c:v>
                </c:pt>
                <c:pt idx="4">
                  <c:v>19.53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5F-47C4-9738-B1633B9844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EDED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BFB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2B2B2B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2B2B2B"/>
                </a:solidFill>
                <a:latin typeface="Calibri"/>
              </a:rPr>
              <a:t>Average Delivery Time vs Number of Additional Orders (multiple_deliveries)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delivery time (minutes)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E37-4966-8C0B-AC8F2B06119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E37-4966-8C0B-AC8F2B061192}"/>
              </c:ext>
            </c:extLst>
          </c:dPt>
          <c:dPt>
            <c:idx val="2"/>
            <c:invertIfNegative val="0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E37-4966-8C0B-AC8F2B061192}"/>
              </c:ext>
            </c:extLst>
          </c:dPt>
          <c:dPt>
            <c:idx val="3"/>
            <c:invertIfNegative val="0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E37-4966-8C0B-AC8F2B061192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B2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26.76</c:v>
                </c:pt>
                <c:pt idx="2">
                  <c:v>40.450000000000003</c:v>
                </c:pt>
                <c:pt idx="3">
                  <c:v>47.82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E37-4966-8C0B-AC8F2B0611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D" b="0" i="0" u="none" strike="noStrike">
                    <a:solidFill>
                      <a:srgbClr val="000000"/>
                    </a:solidFill>
                    <a:latin typeface="Arial"/>
                  </a:rPr>
                  <a:t>Number of additional orders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12700" cap="flat">
              <a:solidFill>
                <a:srgbClr val="EDED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BFB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Calibri"/>
              </a:defRPr>
            </a:pPr>
            <a:r>
              <a:rPr lang="en-ID" sz="1300" b="0" i="0" u="none" strike="noStrike">
                <a:solidFill>
                  <a:srgbClr val="2B2B2B"/>
                </a:solidFill>
                <a:latin typeface="Calibri"/>
              </a:rPr>
              <a:t>Traffic Density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Jam</c:v>
                </c:pt>
                <c:pt idx="1">
                  <c:v>High</c:v>
                </c:pt>
                <c:pt idx="2">
                  <c:v>Medium</c:v>
                </c:pt>
                <c:pt idx="3">
                  <c:v>Unknown</c:v>
                </c:pt>
                <c:pt idx="4">
                  <c:v>Low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31.23</c:v>
                </c:pt>
                <c:pt idx="1">
                  <c:v>27.31</c:v>
                </c:pt>
                <c:pt idx="2">
                  <c:v>26.75</c:v>
                </c:pt>
                <c:pt idx="3">
                  <c:v>26.62</c:v>
                </c:pt>
                <c:pt idx="4">
                  <c:v>21.35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9-4662-BA31-961BA2409A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"/>
          <c:min val="0"/>
        </c:scaling>
        <c:delete val="0"/>
        <c:axPos val="l"/>
        <c:majorGridlines>
          <c:spPr>
            <a:ln w="12700" cap="flat">
              <a:solidFill>
                <a:srgbClr val="EDED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Calibri"/>
              </a:defRPr>
            </a:pPr>
            <a:r>
              <a:rPr lang="en-ID" sz="1300" b="0" i="0" u="none" strike="noStrike">
                <a:solidFill>
                  <a:srgbClr val="2B2B2B"/>
                </a:solidFill>
                <a:latin typeface="Calibri"/>
              </a:rPr>
              <a:t>Weather Conditions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Cloudy</c:v>
                </c:pt>
                <c:pt idx="1">
                  <c:v>Fog</c:v>
                </c:pt>
                <c:pt idx="2">
                  <c:v>Unknown</c:v>
                </c:pt>
                <c:pt idx="3">
                  <c:v>Windy</c:v>
                </c:pt>
                <c:pt idx="4">
                  <c:v>Stormy</c:v>
                </c:pt>
                <c:pt idx="5">
                  <c:v>Sandstorms</c:v>
                </c:pt>
                <c:pt idx="6">
                  <c:v>Sunny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28.96</c:v>
                </c:pt>
                <c:pt idx="1">
                  <c:v>28.94</c:v>
                </c:pt>
                <c:pt idx="2">
                  <c:v>26.62</c:v>
                </c:pt>
                <c:pt idx="3">
                  <c:v>26.2</c:v>
                </c:pt>
                <c:pt idx="4">
                  <c:v>25.95</c:v>
                </c:pt>
                <c:pt idx="5">
                  <c:v>25.94</c:v>
                </c:pt>
                <c:pt idx="6">
                  <c:v>21.97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E8-483D-8B45-26057904FA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3"/>
          <c:min val="0"/>
        </c:scaling>
        <c:delete val="0"/>
        <c:axPos val="l"/>
        <c:majorGridlines>
          <c:spPr>
            <a:ln w="12700" cap="flat">
              <a:solidFill>
                <a:srgbClr val="EDED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5976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5029200"/>
            <a:ext cx="1554480" cy="1554480"/>
          </a:xfrm>
          <a:prstGeom prst="ellipse">
            <a:avLst/>
          </a:prstGeom>
          <a:solidFill>
            <a:srgbClr val="FFFFFF">
              <a:alpha val="15000"/>
            </a:srgbClr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17320" y="502920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13716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HOME TEST — DATA ANALYST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82880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Time Analysis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Courier Efficiency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37033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Platform Case Study — Zomato Dataset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40690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45,584 orders · 20+ cities in India · February–April 2022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6126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part of the Data Analysis &amp; Business Intelligence Bootcamp</a:t>
            </a:r>
            <a:endParaRPr lang="en-US" sz="11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5387135F-2A07-3845-D30B-B4CEB9176426}"/>
              </a:ext>
            </a:extLst>
          </p:cNvPr>
          <p:cNvSpPr txBox="1"/>
          <p:nvPr/>
        </p:nvSpPr>
        <p:spPr>
          <a:xfrm>
            <a:off x="5029200" y="52578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+mj-lt"/>
              </a:rPr>
              <a:t>Compiled by</a:t>
            </a: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+mj-lt"/>
              </a:rPr>
              <a:t>Rio Marselino Perdianto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+mj-lt"/>
              </a:rPr>
              <a:t>Data Analyst &amp; Business Intelligence Batch 22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FRAMEWORK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Stages of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260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Analysis Objectives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2057400"/>
            <a:ext cx="685800" cy="6858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057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9260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58200" y="2057400"/>
            <a:ext cx="685800" cy="6858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58200" y="2057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9260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480560"/>
            <a:ext cx="685800" cy="6858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480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9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3492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Interpretation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43400" y="41605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448056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63440" y="4480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95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53492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38160" y="41605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58200" y="448056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58200" y="4480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95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53492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Recommendations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Problem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is an </a:t>
            </a:r>
            <a:r>
              <a:rPr lang="en-US" sz="1500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food delivery marketplace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operating across 20+ cities in India, connecting restaurants, customers, and partner couriers (gig workers) through an app.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66751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33832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94760"/>
            <a:ext cx="5943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times vary significantly, and it is not yet clear which operational factors drive this the most — making it difficult for the company to set courier allocation and readiness policies, especially during high-demand periods like festivals, without sacrificing service quality.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0" y="160020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2F3C7E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0" y="170992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26.3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average delivery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0" y="315468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2F3C7E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0" y="32644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10–54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delivery time range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470916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2F3C7E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481888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5532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(minutes)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Objectives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rank the factors that most influence delivery time — separating factors the company can control from external factors it must anticipate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2316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trade-off point in the order batching strategy (multiple deliveries) — how far it stays efficient before hurting service quality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29184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impact of high-demand periods (festivals) as a basis for resource-readiness planning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1605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actionable, data-driven operational recommendations, without claiming individual courier performance or financial impact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98080" y="1600200"/>
            <a:ext cx="4160520" cy="3657600"/>
          </a:xfrm>
          <a:prstGeom prst="roundRect">
            <a:avLst>
              <a:gd name="adj" fmla="val 2000"/>
            </a:avLst>
          </a:prstGeom>
          <a:solidFill>
            <a:srgbClr val="2F3C7E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818120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LIMITATIONS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228600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Operational/logistics in nature — excludes financial impact (no price data available)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287121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Findings are correlational, not strictly causal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3456432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Delivery_person_ID is not used to claim individual courier performance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404164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Semi-Urban category treated with caution (0.4% sample)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462686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Dataset shows signs of being synthetic/educational — insights are positioned as a business case simulation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&amp; 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THREE-SIDED MARKETPLACE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</a:t>
            </a:r>
            <a:endParaRPr lang="en-US" sz="143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677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(supply)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5877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coordinates spread widely; the platform owns no kitchens itself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32461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2278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(demand)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547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locations spread widely across cities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🛵</a:t>
            </a:r>
            <a:endParaRPr lang="en-US" sz="143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1879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couriers (gig workers)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5079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vehicle &amp; rating each — not full-time employees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005873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finding: courier IDs follow the pattern [CityCode]RES[no]DEL[no] — indicating the ID is a system-generated combination, not a persistent individual identity. Coverage spans 21+ Indian cities (Mumbai, Bangalore, Chennai, Kolkata, etc).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160020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2F3C7E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55080" y="170992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45,584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3500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98280" y="160020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2F3C7E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098280" y="170992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23500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55080" y="30175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2F3C7E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355080" y="31272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3767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(Feb–Apr 2022)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98280" y="30175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2F3C7E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098280" y="31272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21+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9098280" y="3767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in India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55080" y="448056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96167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675120" y="4663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0" y="4956048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Time_taken (min) — total time from order placed to delivered to customer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DATA PREPROCESSING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Issues Found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4206240"/>
        </p:xfrm>
        <a:graphic>
          <a:graphicData uri="http://schemas.openxmlformats.org/drawingml/2006/table">
            <a:tbl>
              <a:tblPr/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Negative-signed restaurant coordinates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with abs()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 coordinates (0,0) — invalid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3,640 (8%)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to missing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Courier rating &gt; 5.0 (out of scale)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to missing, then median-imputed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Courier age &lt; 18 years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Kept, flagged transparently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time format (Excel decimal)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Re-parsed into a consistent time format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 (Age, Ratings, Weather, Traffic, City, multiple_deliveries)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columns, 0.5%–4.2%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/ mode / "Unknown" imputation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DATA PREPROCESSING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Results &amp; New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2F3C7E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FEATURES (FEATURE ENGINEERING)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Distance_km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700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(haversine) distance from restaurant to delivery location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735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Prep_Time_min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566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order placed and courier pickup time ("kitchen time")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1696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Order_Hour / Order_Weekday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4622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hour &amp; day, for peak-time patterns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06577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Age_flag_under18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3583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flag without removing 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1645920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92240" y="1874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READY FOR EDA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2860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45,356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9992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— after excluding 228 anomalous cluster rows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61188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finding: 228 rows with Festival = missing turned out not to be random — their delivery times were remarkably uniform and far faster (10–14 min) than any other group. Suspected to be a different data cluster (not normal deliveries), so these 228 rows were excluded from the main analysis, not imputed.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EDA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Factors Matter Most?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86200" cy="4480560"/>
          </a:xfrm>
          <a:prstGeom prst="roundRect">
            <a:avLst>
              <a:gd name="adj" fmla="val 1882"/>
            </a:avLst>
          </a:prstGeom>
          <a:solidFill>
            <a:srgbClr val="2F3C7E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9244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CHART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1488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Festival and traffic conditions are the two categorical factors with the widest range of impact on delivery time.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2461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Numerically (correlation), multiple_deliveries is the strongest (r = 0.376) — and the only factor fully within the company's control through order-allocation policy.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48463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AA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type and vehicle type have almost no impact — not a priority target for improvement.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EDA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 Point: Multiple Deliveries per Courier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86200" cy="2103120"/>
          </a:xfrm>
          <a:prstGeom prst="roundRect">
            <a:avLst>
              <a:gd name="adj" fmla="val 3478"/>
            </a:avLst>
          </a:prstGeom>
          <a:solidFill>
            <a:srgbClr val="F96167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92440" y="17830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+13.7 min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4231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in delivery time from 1 → 2 additional orders — far larger than the increase at any other step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3840480"/>
            <a:ext cx="3886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92440" y="4041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34340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batching stays efficient up to 1 additional order. Beyond that, courier "savings" start to hurt service quality disproportionately — not a gradual decline, but a sharp jump.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EDA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Factors: Traffic &amp; Weather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54406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17920" y="1600200"/>
          <a:ext cx="54406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Jam adds ~10 minutes compared to Low. Cloudy/Fog weather is slowest (~29 min) — likely due to low visibility rather than extreme weather itself. Both factors are meaningful but outside the company's direct control — better suited for dynamic ETA estimation than for reduction targets.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EDA — CRITICAL MOMENT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Festival: A Demand Shock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Day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25.98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611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average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96167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949440" y="2011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Festival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42316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45.52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611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average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4114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+19.5 min (nearly 2x)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452628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effect holds consistently across all traffic levels — suggesting the cause is a surge in order volume (capacity), not just heavier traffic.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The solution lies in courier capacity readiness, not route optimization.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INSIGHT &amp; INTERPRETATION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46504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46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73352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Order-batching trade-off point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673352"/>
            <a:ext cx="6492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threshold is 1 additional order — the only factor fully within the company's control.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688336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88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615184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Festival = a capacity shock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615184"/>
            <a:ext cx="6492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+19.5 min, consistent across all traffic levels — needs resource readiness, not route optimization.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630168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630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557016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factors must be anticipated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557016"/>
            <a:ext cx="6492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&amp; weather are real but outside the company's control — their value lies in ETA prediction, not prevention.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442569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5720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498848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Vehicle-type anomaly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4498848"/>
            <a:ext cx="6492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Motorcycles are slower than scooters — likely assignment bias (longer distances/more complex orders), needs further investigation.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536752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513832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513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6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5440680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&amp; age: correlation, not causation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5440680"/>
            <a:ext cx="6492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of cause-and-effect can't be confirmed — should not directly drive HR policy.</a:t>
            </a:r>
            <a:endParaRPr lang="en-US" sz="1080" dirty="0"/>
          </a:p>
        </p:txBody>
      </p:sp>
      <p:sp>
        <p:nvSpPr>
          <p:cNvPr id="29" name="Text 2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· INTERACTIVE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— Single Page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pic>
        <p:nvPicPr>
          <p:cNvPr id="5" name="Image 0" descr="/home/claude/pptx_build_en/dashboard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360"/>
            <a:ext cx="10607040" cy="4297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· BUSINESS INSIGHT 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Execution Priority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2461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additional orders at 1 per courier trip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/ 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 backup couriers ahead of festivals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/ Marketing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dynamic ETA based on traffic &amp; weather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Medium–High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/ Data Eng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Investigate vehicle-assignment patterns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off HR policy based on rating/age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Analytics / 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impact is stated qualitatively (High/Medium/Low) because the dataset has no cost/revenue data — financial savings estimates cannot yet be calculated.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CONCLUSION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Findings are correlational, not strictly causal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42032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Delivery_person_ID is not used to claim individual courier performance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63824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Semi-Urban conclusions are statistically weak (0.4% sample)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85616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228 anomalous cluster rows (Festival = missing) were excluded from the analysis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07408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Dataset shows signs of being synthetic (courier ID pattern, evenly-split order types, odd/even date pattern) — insights are positioned as a business case simulation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29200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cost/revenue data — recommendation impact is stated qualitatively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0" y="1920240"/>
            <a:ext cx="4754880" cy="4206240"/>
          </a:xfrm>
          <a:prstGeom prst="roundRect">
            <a:avLst>
              <a:gd name="adj" fmla="val 1739"/>
            </a:avLst>
          </a:prstGeom>
          <a:solidFill>
            <a:srgbClr val="F96167"/>
          </a:solidFill>
          <a:ln/>
          <a:effectLst>
            <a:outerShdw blurRad="1016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178040" y="2148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56032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Order-allocation policy (capping additional orders) and festival capacity readiness are the two levers with the biggest impact and lowest implementation effort — making them the top execution priority.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46634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factors (traffic, weather) remain valuable for building more realistic ETAs, even though they can't be eliminated.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08076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4E8ECB9D-D53C-0132-A40A-1DADFF116C2D}"/>
              </a:ext>
            </a:extLst>
          </p:cNvPr>
          <p:cNvSpPr txBox="1"/>
          <p:nvPr/>
        </p:nvSpPr>
        <p:spPr>
          <a:xfrm>
            <a:off x="548640" y="6345936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150" dirty="0">
                <a:solidFill>
                  <a:schemeClr val="bg1"/>
                </a:solidFill>
              </a:rPr>
              <a:t>Link </a:t>
            </a:r>
            <a:r>
              <a:rPr lang="en-US" sz="1150" dirty="0" err="1">
                <a:solidFill>
                  <a:schemeClr val="bg1"/>
                </a:solidFill>
              </a:rPr>
              <a:t>Github</a:t>
            </a:r>
            <a:r>
              <a:rPr lang="en-US" sz="1150" dirty="0">
                <a:solidFill>
                  <a:schemeClr val="bg1"/>
                </a:solidFill>
              </a:rPr>
              <a:t> : https://github.com/riomarsel25-arch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1487</Words>
  <Application>Microsoft Office PowerPoint</Application>
  <PresentationFormat>Widescreen</PresentationFormat>
  <Paragraphs>237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Rio Perdianto</cp:lastModifiedBy>
  <cp:revision>4</cp:revision>
  <dcterms:created xsi:type="dcterms:W3CDTF">2026-09-26T00:22:21Z</dcterms:created>
  <dcterms:modified xsi:type="dcterms:W3CDTF">2026-09-26T03:47:39Z</dcterms:modified>
</cp:coreProperties>
</file>